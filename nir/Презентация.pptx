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0"/>
  </p:notesMasterIdLst>
  <p:sldIdLst>
    <p:sldId id="256" r:id="rId2"/>
    <p:sldId id="257" r:id="rId3"/>
    <p:sldId id="274" r:id="rId4"/>
    <p:sldId id="275" r:id="rId5"/>
    <p:sldId id="279" r:id="rId6"/>
    <p:sldId id="280" r:id="rId7"/>
    <p:sldId id="281" r:id="rId8"/>
    <p:sldId id="278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6E02E-961A-4197-A821-DA23692F6A4E}" type="datetimeFigureOut">
              <a:rPr lang="vi-VN" smtClean="0"/>
              <a:t>30/03/2026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5F736-E02B-4504-B61B-BB5B3E3DA0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210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5F736-E02B-4504-B61B-BB5B3E3DA07F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411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633B-0AB2-0B56-0BA0-EA2791763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29F0-2DE2-9875-E77F-D4E86F520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33F5A-3B2F-4418-12BA-A0F33618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3B1D-B41E-4105-AC06-D9A199F7946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70A8C-6146-DC64-4FEA-78C80A5D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4207-ACDC-E2D2-508C-D01F5290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08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DB48-02F4-B934-FE44-4A7DD37E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25E1-5BA0-4483-4747-F67F85051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8983D-843C-CF1A-8427-054A6CEB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2D29-C20F-4659-B598-F6659A980F3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0AED6-41E0-1512-60B1-C59C03F3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0E81-1222-8DFD-B724-E7D1DBBC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B546-6DB2-57A1-B24B-7385AD0C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ABD80-6617-9419-88F1-18866BF77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DB21-E457-7D95-F5B0-E6433DFA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DD70-3D00-44D0-8E61-CE2055202C4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0263-39BE-7AD0-E0BB-6C2255D0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5DF2B-3CA2-5A31-E6CC-2DA28D1F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65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C20E-9975-ED49-D1E2-F89D3797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A3078-F136-737C-1525-00DCB80A7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6AEE-59A2-6CB9-1E66-7F1BDFF58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DF5F9-A5A0-9D14-FA6A-F493851D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9DAD-CCAB-49EA-A4F5-AA4384735EF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4F6EC-D8E2-DF21-2B22-E6407961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F3EC6-8F84-1F14-3BDD-D75A1BA62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51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C6F0-59BF-4E0C-2C8F-5B677061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067ED-9993-7A66-7B6D-AB8AE4F51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9FF9D-7F03-BDF4-5927-301E5E3A5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01A7C-EBCF-6A26-5D40-7E23C88FE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E0DA7-01EF-B44D-61BB-901D63DFD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2D198-3D78-E444-FBDC-2D5C46807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DF7F-3EF9-477F-BD4E-8D81DED0CAD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3FD71-0E9E-AC01-85ED-191D94A4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61550-45FF-886B-248C-22AC1F23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4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FBF6-EA43-2355-36CD-B71F6E70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3A2C4-9938-73C9-5FBC-5AB4590D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9476-416C-4D84-A87C-5840137F0FE6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1D331-39F6-5AC9-757E-DE304E14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E332A-684F-659C-8F11-036C76A6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4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48958-9DE7-1EDC-78A3-49307FDC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060E3-E959-4599-8072-FB5B9A9C413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F2A18-D2AC-D8C5-FD84-E0C16A4A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7A9AD-1212-02FB-CCD0-125CE9AC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69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9E47-4FC7-B9AF-99E2-041B2D4B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F4AC-AA1B-8078-9A1F-FD4FDFC24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C74A-BF88-16CB-B111-01CAA16BA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59A5D-E088-A6F4-3629-6476CB9C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5787-70A1-4D84-90F9-D2584793660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491D3-386F-6FF8-E352-F69500750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5953A-C498-4E7B-D353-8ADB51E6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39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01F2-BD34-1DF8-BFC2-A0916F5A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AA54F-8188-D910-5653-CE4649968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584D5-0C95-643C-E545-E8C094E91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76010-5081-54C3-6199-63AA1806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D6CF8-0231-4AF4-8113-AE41847B6AA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A9892-2838-5030-0178-BAC7D4E6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01741-11DF-9D35-E167-9E175997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99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C417-6A2E-4E97-303A-EC4D1EC4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FAE44-A02B-7557-0962-D402026FF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66CF1-430F-7947-4204-B0B3C4FC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59CC-B285-4AE6-8C66-0506E1B10AB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63C85-2B7F-42BC-FFB7-285D242D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BC3-2344-7DAA-381C-DC04E4EB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AB8F9-2DAF-5332-5A37-6A7B1F396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EC5C0-DFC1-69FC-5006-9E90CF3EF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F0A69-3AC0-A75C-F318-AA6A5698E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A3D7-B520-4DAD-827A-F5923BE0011B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9364-B921-D8F1-0873-34FDE336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364A-CF78-1CEA-E99E-F49DF12A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27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3D86-F600-4D53-BDE3-5C9DBCF1307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1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2720F-4B2B-726A-2633-C68AA56B7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D3E77-7D30-32A8-6DCE-C2A441D7E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FF94-DFCA-ECF8-EAD5-27BAB6C71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F0B77-67D0-439C-A535-5B927AA28FC7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A7E16-3BEF-E2A6-8FA1-030F13BC0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370E-3ECD-A23D-BF9C-43E5BC181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0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157E89-B096-6392-5581-A65F8A9232E3}"/>
              </a:ext>
            </a:extLst>
          </p:cNvPr>
          <p:cNvSpPr txBox="1"/>
          <p:nvPr/>
        </p:nvSpPr>
        <p:spPr>
          <a:xfrm>
            <a:off x="900396" y="2074787"/>
            <a:ext cx="103912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Исследование метода перевода </a:t>
            </a:r>
            <a:r>
              <a:rPr lang="ru-RU" sz="4000" b="1" i="1" kern="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дактильных</a:t>
            </a:r>
            <a:r>
              <a:rPr lang="ru-RU" sz="4000" b="1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жестов в текст с использованием рекуррентных нейронных сетей</a:t>
            </a:r>
            <a:endParaRPr lang="vi-V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9A69A36-B268-587C-B30E-24724FE57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030" y="4660078"/>
            <a:ext cx="9144000" cy="1049973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Ву Минь Куанг </a:t>
            </a:r>
          </a:p>
          <a:p>
            <a:pPr algn="l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доцент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Быстрицкая Анна Юрьевна</a:t>
            </a:r>
            <a:endParaRPr lang="ru-RU" i="0" dirty="0">
              <a:solidFill>
                <a:srgbClr val="5F636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36219-2CB7-B819-6264-7DA80787220B}"/>
              </a:ext>
            </a:extLst>
          </p:cNvPr>
          <p:cNvSpPr txBox="1"/>
          <p:nvPr/>
        </p:nvSpPr>
        <p:spPr>
          <a:xfrm>
            <a:off x="5347570" y="5923085"/>
            <a:ext cx="1693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Москва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г.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B533-BD97-645C-0721-C19BF0B3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ECDF4-3DAC-4549-A1E1-4CD143444C4D}"/>
              </a:ext>
            </a:extLst>
          </p:cNvPr>
          <p:cNvSpPr txBox="1"/>
          <p:nvPr/>
        </p:nvSpPr>
        <p:spPr>
          <a:xfrm>
            <a:off x="1990819" y="318800"/>
            <a:ext cx="89198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«Московский государственный технический университет имени Н.Э. Баумана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(МГТУ им. Н.Э. Баумана)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F2A565-E046-4719-95CA-3AC62DE4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82" y="318079"/>
            <a:ext cx="1228896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7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EB7AC0-9A92-F7D7-EF13-C662293B09AE}"/>
              </a:ext>
            </a:extLst>
          </p:cNvPr>
          <p:cNvSpPr txBox="1">
            <a:spLocks/>
          </p:cNvSpPr>
          <p:nvPr/>
        </p:nvSpPr>
        <p:spPr>
          <a:xfrm>
            <a:off x="531932" y="1260991"/>
            <a:ext cx="10449577" cy="50953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</a:t>
            </a:r>
            <a:r>
              <a:rPr lang="ru-RU" sz="2400" kern="0" cap="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исследование метода перевода </a:t>
            </a:r>
            <a:r>
              <a:rPr lang="ru-RU" sz="2400" kern="0" cap="none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дактильных</a:t>
            </a:r>
            <a:r>
              <a:rPr lang="ru-RU" sz="2400" kern="0" cap="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жестов в текст с использованием рекуррентных нейронных сетей.</a:t>
            </a:r>
            <a:endParaRPr lang="en-US" sz="2400" kern="0" cap="none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средства программной реализации.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структуру программного обеспечения.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метода перевода жестов рук в текст.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BCD93-C736-3FD8-0FDD-AC2C6192AD63}"/>
              </a:ext>
            </a:extLst>
          </p:cNvPr>
          <p:cNvSpPr txBox="1"/>
          <p:nvPr/>
        </p:nvSpPr>
        <p:spPr>
          <a:xfrm>
            <a:off x="3707460" y="445794"/>
            <a:ext cx="4777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  <a:endParaRPr lang="vi-V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99EE8B-1D41-61E8-1FC5-E04B7513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6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31CD8-344F-3B0A-17C7-A4B79CFC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31682A-D2B6-4116-8D54-2E3587B2B7C2}"/>
              </a:ext>
            </a:extLst>
          </p:cNvPr>
          <p:cNvSpPr/>
          <p:nvPr/>
        </p:nvSpPr>
        <p:spPr>
          <a:xfrm>
            <a:off x="762371" y="221149"/>
            <a:ext cx="6526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D6AAD5-12F3-4D74-9362-118B2D46351A}"/>
                  </a:ext>
                </a:extLst>
              </p:cNvPr>
              <p:cNvSpPr txBox="1"/>
              <p:nvPr/>
            </p:nvSpPr>
            <p:spPr>
              <a:xfrm>
                <a:off x="762371" y="1210337"/>
                <a:ext cx="6094520" cy="615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точность</m:t>
                          </m:r>
                        </m:e>
                      </m:d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D6AAD5-12F3-4D74-9362-118B2D463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71" y="1210337"/>
                <a:ext cx="6094520" cy="6154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1A5006-1D4F-4840-8E85-74E2422C9A68}"/>
                  </a:ext>
                </a:extLst>
              </p:cNvPr>
              <p:cNvSpPr txBox="1"/>
              <p:nvPr/>
            </p:nvSpPr>
            <p:spPr>
              <a:xfrm>
                <a:off x="618478" y="1930500"/>
                <a:ext cx="6094520" cy="87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точность класса</m:t>
                          </m:r>
                        </m:e>
                      </m:d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11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1A5006-1D4F-4840-8E85-74E2422C9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78" y="1930500"/>
                <a:ext cx="6094520" cy="87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13636A-D9B0-401B-9BED-7504D148F951}"/>
                  </a:ext>
                </a:extLst>
              </p:cNvPr>
              <p:cNvSpPr txBox="1"/>
              <p:nvPr/>
            </p:nvSpPr>
            <p:spPr>
              <a:xfrm>
                <a:off x="117628" y="2912273"/>
                <a:ext cx="6094520" cy="87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полнота</m:t>
                          </m:r>
                        </m:e>
                      </m:d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1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13636A-D9B0-401B-9BED-7504D148F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28" y="2912273"/>
                <a:ext cx="6094520" cy="87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EE779-30D8-4B85-A55A-CC7A5F87B6F8}"/>
                  </a:ext>
                </a:extLst>
              </p:cNvPr>
              <p:cNvSpPr txBox="1"/>
              <p:nvPr/>
            </p:nvSpPr>
            <p:spPr>
              <a:xfrm>
                <a:off x="446104" y="3894046"/>
                <a:ext cx="6094520" cy="888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ru-RU" sz="1800" kern="100" smtClean="0">
                          <a:effectLst/>
                          <a:latin typeface="Cambria Math" panose="02040503050406030204" pitchFamily="18" charset="0"/>
                        </a:rPr>
                        <m:t>=2×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US" sz="11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EE779-30D8-4B85-A55A-CC7A5F87B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04" y="3894046"/>
                <a:ext cx="6094520" cy="8881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52C97AF-1A0F-4738-A4E0-4FD17CFB91EE}"/>
              </a:ext>
            </a:extLst>
          </p:cNvPr>
          <p:cNvSpPr txBox="1"/>
          <p:nvPr/>
        </p:nvSpPr>
        <p:spPr>
          <a:xfrm>
            <a:off x="7068845" y="2369050"/>
            <a:ext cx="46763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TP — истинно положительные, </a:t>
            </a: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TN — истинно отрицательные, </a:t>
            </a: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 — ложноположительные, </a:t>
            </a: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FN — ложноотрицательные результаты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1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E07B5-9246-63B6-790E-0E5221B9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323A5-C2EB-4B75-A31B-9E6962CC024F}"/>
              </a:ext>
            </a:extLst>
          </p:cNvPr>
          <p:cNvSpPr txBox="1"/>
          <p:nvPr/>
        </p:nvSpPr>
        <p:spPr>
          <a:xfrm>
            <a:off x="437966" y="136020"/>
            <a:ext cx="6823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Зависимость точности метода от эпох</a:t>
            </a:r>
            <a:endParaRPr lang="ru-R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93E17A-7BF5-471A-AAA4-482F24209F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7966" y="704850"/>
            <a:ext cx="5542280" cy="2724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2401B4-D376-4A71-AE8C-1050678571B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7966" y="3632200"/>
            <a:ext cx="5437505" cy="2724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A2E494-E8AB-40B6-BAE5-FFBAA9617EDA}"/>
              </a:ext>
            </a:extLst>
          </p:cNvPr>
          <p:cNvSpPr txBox="1"/>
          <p:nvPr/>
        </p:nvSpPr>
        <p:spPr>
          <a:xfrm>
            <a:off x="2115104" y="3437602"/>
            <a:ext cx="2829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потерь для 160 эпох.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2489A-53D2-46F5-ACEF-F863B0AF99F1}"/>
              </a:ext>
            </a:extLst>
          </p:cNvPr>
          <p:cNvSpPr txBox="1"/>
          <p:nvPr/>
        </p:nvSpPr>
        <p:spPr>
          <a:xfrm>
            <a:off x="1721528" y="6355793"/>
            <a:ext cx="4374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категориальной точности для 160 эпох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492CAD-F642-4F1B-A78A-27B02B94589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31165" y="713452"/>
            <a:ext cx="5437505" cy="2724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7B4AB3-81D3-45D3-A87A-7420D79E7F9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431165" y="3733907"/>
            <a:ext cx="5323840" cy="26282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DD7F27-2591-4576-AF62-D49DEF311BBC}"/>
              </a:ext>
            </a:extLst>
          </p:cNvPr>
          <p:cNvSpPr txBox="1"/>
          <p:nvPr/>
        </p:nvSpPr>
        <p:spPr>
          <a:xfrm>
            <a:off x="8313198" y="3374604"/>
            <a:ext cx="2829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потерь для 120 эпох.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74583-BF51-4F00-8A81-F01872A1B433}"/>
              </a:ext>
            </a:extLst>
          </p:cNvPr>
          <p:cNvSpPr txBox="1"/>
          <p:nvPr/>
        </p:nvSpPr>
        <p:spPr>
          <a:xfrm>
            <a:off x="7715698" y="6367119"/>
            <a:ext cx="4374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 категориальной точности для 120 эпох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79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AEDE4-AD45-4378-B050-36219F23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70B050-3C10-4ED1-AE68-EB66B14FE11D}"/>
              </a:ext>
            </a:extLst>
          </p:cNvPr>
          <p:cNvSpPr/>
          <p:nvPr/>
        </p:nvSpPr>
        <p:spPr>
          <a:xfrm>
            <a:off x="623920" y="108806"/>
            <a:ext cx="114239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качества перевода от настроечных параметров метода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B14DB-A534-4984-9161-8EB02B01BC1A}"/>
              </a:ext>
            </a:extLst>
          </p:cNvPr>
          <p:cNvSpPr txBox="1"/>
          <p:nvPr/>
        </p:nvSpPr>
        <p:spPr>
          <a:xfrm>
            <a:off x="144119" y="632026"/>
            <a:ext cx="609452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архитектур LSTM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DCF96C-69D7-494B-9979-3DCB32C81F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9793" y="1630045"/>
            <a:ext cx="4610100" cy="35979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E79F4B-972B-4D6C-B96E-9364591D4BD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70194" y="1601470"/>
            <a:ext cx="4848225" cy="36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8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C81E-F7D0-4289-AE36-D86EEAD3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38677-1498-4753-B777-9A2FA43D62F3}"/>
              </a:ext>
            </a:extLst>
          </p:cNvPr>
          <p:cNvSpPr txBox="1"/>
          <p:nvPr/>
        </p:nvSpPr>
        <p:spPr>
          <a:xfrm>
            <a:off x="179773" y="0"/>
            <a:ext cx="427681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Вариации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полносвязных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слоёв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79683-2874-41E5-8960-D632A3A48E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4705" y="458073"/>
            <a:ext cx="4118316" cy="2897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2D04BF-7866-461D-96A8-4E94979368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9418" y="3429000"/>
            <a:ext cx="4370034" cy="3225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07E567-CDE4-48C8-B144-83AF296672B8}"/>
              </a:ext>
            </a:extLst>
          </p:cNvPr>
          <p:cNvSpPr txBox="1"/>
          <p:nvPr/>
        </p:nvSpPr>
        <p:spPr>
          <a:xfrm>
            <a:off x="5694285" y="15099"/>
            <a:ext cx="5832629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влияния параметра скорости обучения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CF555A-380A-4584-972E-2C5A18BF18B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08032" y="554170"/>
            <a:ext cx="5924550" cy="418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7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E1D86-576F-4E4F-9B96-873D166D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D590A-F52F-47AB-87E4-100FE50169F4}"/>
              </a:ext>
            </a:extLst>
          </p:cNvPr>
          <p:cNvSpPr txBox="1"/>
          <p:nvPr/>
        </p:nvSpPr>
        <p:spPr>
          <a:xfrm>
            <a:off x="481614" y="21704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Метрики скорости работы системы</a:t>
            </a:r>
            <a:endParaRPr lang="en-US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0162F4-FE54-4646-9203-252226B50C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6859" y="980970"/>
            <a:ext cx="5629275" cy="413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B4B56-5F35-4AC0-8A24-256EFC0F558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93270" y="1394574"/>
            <a:ext cx="4676775" cy="344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5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14866-33F3-44C4-FCFF-0716B18F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AD370-3044-437C-6E11-3349C5854BA5}"/>
              </a:ext>
            </a:extLst>
          </p:cNvPr>
          <p:cNvSpPr txBox="1"/>
          <p:nvPr/>
        </p:nvSpPr>
        <p:spPr>
          <a:xfrm>
            <a:off x="5018237" y="200297"/>
            <a:ext cx="215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0F682-71AA-B9C3-1BD3-B52F5671BFA8}"/>
              </a:ext>
            </a:extLst>
          </p:cNvPr>
          <p:cNvSpPr txBox="1"/>
          <p:nvPr/>
        </p:nvSpPr>
        <p:spPr>
          <a:xfrm>
            <a:off x="766353" y="908932"/>
            <a:ext cx="1058744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результате проведенного исследования была разработана эффективная система распознавания жестового языка на основе LSTM нейронных сетей с точностью 96-98% при скорости обработки около 50 миллисекунд на образец. Систематическая оптимизация параметров выявила оптимальную конфигурацию системы: LSTM архитектура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Medium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(64-128-64),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архитектура Double (64-32), скорость обучения 0.001 и порог уверенности 0.9.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1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2620</TotalTime>
  <Words>266</Words>
  <Application>Microsoft Office PowerPoint</Application>
  <PresentationFormat>Widescreen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Quang Vũ</dc:creator>
  <cp:lastModifiedBy>Quang Vũ</cp:lastModifiedBy>
  <cp:revision>231</cp:revision>
  <dcterms:created xsi:type="dcterms:W3CDTF">2024-05-14T22:33:28Z</dcterms:created>
  <dcterms:modified xsi:type="dcterms:W3CDTF">2026-03-31T08:53:23Z</dcterms:modified>
</cp:coreProperties>
</file>